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8.xml" ContentType="application/vnd.openxmlformats-officedocument.presentationml.slide+xml"/>
  <Override PartName="/ppt/slides/slide7.xml" ContentType="application/vnd.openxmlformats-officedocument.presentationml.slide+xml"/>
  <Override PartName="/ppt/slides/slide6.xml" ContentType="application/vnd.openxmlformats-officedocument.presentationml.slide+xml"/>
  <Override PartName="/ppt/slides/slide5.xml" ContentType="application/vnd.openxmlformats-officedocument.presentationml.slide+xml"/>
  <Override PartName="/ppt/slides/slide4.xml" ContentType="application/vnd.openxmlformats-officedocument.presentationml.slide+xml"/>
  <Override PartName="/ppt/slides/slide3.xml" ContentType="application/vnd.openxmlformats-officedocument.presentationml.slide+xml"/>
  <Override PartName="/ppt/slides/slide2.xml" ContentType="application/vnd.openxmlformats-officedocument.presentationml.slide+xml"/>
  <Override PartName="/ppt/slides/slide9.xml" ContentType="application/vnd.openxmlformats-officedocument.presentationml.slide+xml"/>
  <Override PartName="/ppt/slides/slide19.xml" ContentType="application/vnd.openxmlformats-officedocument.presentationml.slide+xml"/>
  <Override PartName="/ppt/slides/slide18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0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1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6.xml" ContentType="application/vnd.openxmlformats-officedocument.presentationml.notesSlide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58" r:id="rId3"/>
    <p:sldId id="257" r:id="rId4"/>
    <p:sldId id="274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9" d="100"/>
          <a:sy n="119" d="100"/>
        </p:scale>
        <p:origin x="56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customXml" Target="../customXml/item1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28" Type="http://schemas.openxmlformats.org/officeDocument/2006/relationships/customXml" Target="../customXml/item3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Relationship Id="rId27" Type="http://schemas.openxmlformats.org/officeDocument/2006/relationships/customXml" Target="../customXml/item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95476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003105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3A6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114800"/>
            <a:ext cx="9144000" cy="1028700"/>
          </a:xfrm>
          <a:prstGeom prst="rect">
            <a:avLst/>
          </a:prstGeom>
          <a:solidFill>
            <a:srgbClr val="2E6DB4"/>
          </a:solidFill>
          <a:ln w="12700">
            <a:solidFill>
              <a:srgbClr val="2E6DB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097280"/>
            <a:ext cx="82296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PILARES DO PENSAMENTO COMPUTACIONAL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457200" y="32004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Luiz Felipe  ·  Rômulo  ·  Pedro Lima  ·  Marcos Henrique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41605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1.º Ano C1  |  2025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 err="1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Sumário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1143000"/>
            <a:ext cx="64008" cy="3474720"/>
          </a:xfrm>
          <a:prstGeom prst="rect">
            <a:avLst/>
          </a:prstGeom>
          <a:solidFill>
            <a:srgbClr val="2E6DB4"/>
          </a:solidFill>
          <a:ln w="12700">
            <a:solidFill>
              <a:srgbClr val="2E6DB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029511"/>
            <a:ext cx="813816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/>
            </a:pPr>
            <a:endParaRPr lang="en-US" sz="1600" dirty="0"/>
          </a:p>
        </p:txBody>
      </p:sp>
      <p:sp>
        <p:nvSpPr>
          <p:cNvPr id="8" name="CaixaDeTexto 7"/>
          <p:cNvSpPr txBox="1"/>
          <p:nvPr/>
        </p:nvSpPr>
        <p:spPr>
          <a:xfrm>
            <a:off x="503742" y="1449199"/>
            <a:ext cx="4701159" cy="286232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pt-BR" dirty="0" smtClean="0"/>
              <a:t>O Que é Pensamento Computacional</a:t>
            </a:r>
          </a:p>
          <a:p>
            <a:pPr marL="342900" indent="-342900">
              <a:buFont typeface="+mj-lt"/>
              <a:buAutoNum type="arabicPeriod"/>
            </a:pPr>
            <a:r>
              <a:rPr lang="pt-BR" dirty="0" smtClean="0"/>
              <a:t>Breve Histórico</a:t>
            </a:r>
          </a:p>
          <a:p>
            <a:pPr marL="342900" indent="-342900">
              <a:buFont typeface="+mj-lt"/>
              <a:buAutoNum type="arabicPeriod"/>
            </a:pPr>
            <a:r>
              <a:rPr lang="pt-BR" dirty="0" smtClean="0"/>
              <a:t>Pensamento Computacional </a:t>
            </a:r>
            <a:r>
              <a:rPr lang="pt-BR" dirty="0" err="1" smtClean="0"/>
              <a:t>vs</a:t>
            </a:r>
            <a:r>
              <a:rPr lang="pt-BR" dirty="0" smtClean="0"/>
              <a:t> Programação</a:t>
            </a:r>
          </a:p>
          <a:p>
            <a:pPr marL="342900" indent="-342900">
              <a:buFont typeface="+mj-lt"/>
              <a:buAutoNum type="arabicPeriod"/>
            </a:pPr>
            <a:r>
              <a:rPr lang="pt-BR" dirty="0" smtClean="0"/>
              <a:t>Os Quatro Pilares</a:t>
            </a:r>
          </a:p>
          <a:p>
            <a:pPr marL="342900" indent="-342900">
              <a:buFont typeface="+mj-lt"/>
              <a:buAutoNum type="arabicPeriod"/>
            </a:pPr>
            <a:r>
              <a:rPr lang="pt-BR" dirty="0" smtClean="0"/>
              <a:t>Aplicação no Dia a Dia</a:t>
            </a:r>
          </a:p>
          <a:p>
            <a:pPr marL="342900" indent="-342900">
              <a:buFont typeface="+mj-lt"/>
              <a:buAutoNum type="arabicPeriod"/>
            </a:pPr>
            <a:r>
              <a:rPr lang="pt-BR" dirty="0" smtClean="0"/>
              <a:t>Pensamento Computacional na Escola</a:t>
            </a:r>
          </a:p>
          <a:p>
            <a:pPr marL="342900" indent="-342900">
              <a:buFont typeface="+mj-lt"/>
              <a:buAutoNum type="arabicPeriod"/>
            </a:pPr>
            <a:r>
              <a:rPr lang="pt-BR" dirty="0" smtClean="0"/>
              <a:t>Conclusão</a:t>
            </a:r>
          </a:p>
          <a:p>
            <a:pPr marL="342900" indent="-342900">
              <a:buFont typeface="+mj-lt"/>
              <a:buAutoNum type="arabicPeriod"/>
            </a:pPr>
            <a:endParaRPr lang="pt-BR" dirty="0" smtClean="0"/>
          </a:p>
          <a:p>
            <a:pPr marL="342900" indent="-342900">
              <a:buFont typeface="+mj-lt"/>
              <a:buAutoNum type="arabicPeriod"/>
            </a:pPr>
            <a:endParaRPr lang="pt-BR" dirty="0" smtClean="0"/>
          </a:p>
          <a:p>
            <a:pPr marL="342900" indent="-342900">
              <a:buFont typeface="+mj-lt"/>
              <a:buAutoNum type="arabicPeriod"/>
            </a:pPr>
            <a:endParaRPr lang="pt-BR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3A6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9728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2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7200" dirty="0"/>
          </a:p>
        </p:txBody>
      </p:sp>
      <p:sp>
        <p:nvSpPr>
          <p:cNvPr id="3" name="Text 1"/>
          <p:cNvSpPr/>
          <p:nvPr/>
        </p:nvSpPr>
        <p:spPr>
          <a:xfrm>
            <a:off x="457200" y="228600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É Pensamento Computacional?</a:t>
            </a:r>
            <a:endParaRPr lang="en-US" sz="3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É Pensamento Computacional?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1143000"/>
            <a:ext cx="64008" cy="3474720"/>
          </a:xfrm>
          <a:prstGeom prst="rect">
            <a:avLst/>
          </a:prstGeom>
          <a:solidFill>
            <a:srgbClr val="2E6DB4"/>
          </a:solidFill>
          <a:ln w="12700">
            <a:solidFill>
              <a:srgbClr val="2E6DB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1143000"/>
            <a:ext cx="813816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Metodologia de resolução de problemas baseada em princípios lógicos e organizacionais.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 em decompor situações complexas, identificar padrões, abstrair informações relevantes e construir soluções sistematizadas.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Estimula a lógica, a organização e a criatividade.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Aplica-se em situações cotidianas, não apenas no uso de computadores.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16829713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3A6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9728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2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7200" dirty="0"/>
          </a:p>
        </p:txBody>
      </p:sp>
      <p:sp>
        <p:nvSpPr>
          <p:cNvPr id="3" name="Text 1"/>
          <p:cNvSpPr/>
          <p:nvPr/>
        </p:nvSpPr>
        <p:spPr>
          <a:xfrm>
            <a:off x="457200" y="228600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Breve Histórico</a:t>
            </a:r>
            <a:endParaRPr lang="en-US" sz="3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Breve Histórico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1143000"/>
            <a:ext cx="64008" cy="3474720"/>
          </a:xfrm>
          <a:prstGeom prst="rect">
            <a:avLst/>
          </a:prstGeom>
          <a:solidFill>
            <a:srgbClr val="2E6DB4"/>
          </a:solidFill>
          <a:ln w="12700">
            <a:solidFill>
              <a:srgbClr val="2E6DB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1143000"/>
            <a:ext cx="813816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termo ganhou notoriedade em 2006 com a cientista Jeannette Wing.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Suas raízes remontam a Alan Turing e Ada Lovelace, pioneiros no estudo de algoritmos e lógica computacional.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Wing defendeu que o pensamento computacional deveria integrar o currículo escolar como habilidade fundamental.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Considerada tão importante quanto ler, escrever e calcular.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3A6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9728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2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7200" dirty="0"/>
          </a:p>
        </p:txBody>
      </p:sp>
      <p:sp>
        <p:nvSpPr>
          <p:cNvPr id="3" name="Text 1"/>
          <p:cNvSpPr/>
          <p:nvPr/>
        </p:nvSpPr>
        <p:spPr>
          <a:xfrm>
            <a:off x="457200" y="228600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Pensamento Computacional vs. Programação</a:t>
            </a:r>
            <a:endParaRPr lang="en-US" sz="3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Pensamento Computacional vs. Programação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1143000"/>
            <a:ext cx="4023360" cy="3657600"/>
          </a:xfrm>
          <a:prstGeom prst="rect">
            <a:avLst/>
          </a:prstGeom>
          <a:solidFill>
            <a:srgbClr val="EEF2F8"/>
          </a:solidFill>
          <a:ln w="12700">
            <a:solidFill>
              <a:srgbClr val="EEF2F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846320" y="1143000"/>
            <a:ext cx="4023360" cy="3657600"/>
          </a:xfrm>
          <a:prstGeom prst="rect">
            <a:avLst/>
          </a:prstGeom>
          <a:solidFill>
            <a:srgbClr val="EEF2F8"/>
          </a:solidFill>
          <a:ln w="12700">
            <a:solidFill>
              <a:srgbClr val="EEF2F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280160"/>
            <a:ext cx="374904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Processo mental de elaborar soluções.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Habilidade de pensar de forma estruturada e lógica.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 do uso do computador.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Precede e orienta a programação.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Exemplo: planejar uma festa.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029200" y="1280160"/>
            <a:ext cx="374904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Etapa de implementação das soluções.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Utiliza linguagens e ferramentas computacionais.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Requer conhecimento técnico específico.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 direto do pensamento computacional.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Exemplo: desenvolver um aplicativo.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3A6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9728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2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7200" dirty="0"/>
          </a:p>
        </p:txBody>
      </p:sp>
      <p:sp>
        <p:nvSpPr>
          <p:cNvPr id="3" name="Text 1"/>
          <p:cNvSpPr/>
          <p:nvPr/>
        </p:nvSpPr>
        <p:spPr>
          <a:xfrm>
            <a:off x="457200" y="228600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Quatro Pilares</a:t>
            </a:r>
            <a:endParaRPr lang="en-US" sz="3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Quatro Pilares do Pensamento Computacional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1188720"/>
            <a:ext cx="1920240" cy="347472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325880"/>
            <a:ext cx="1920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274320" y="2377440"/>
            <a:ext cx="192024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Decomposição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2468880" y="1188720"/>
            <a:ext cx="1920240" cy="3474720"/>
          </a:xfrm>
          <a:prstGeom prst="rect">
            <a:avLst/>
          </a:prstGeom>
          <a:solidFill>
            <a:srgbClr val="2E6DB4"/>
          </a:solidFill>
          <a:ln w="12700">
            <a:solidFill>
              <a:srgbClr val="2E6DB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468880" y="1325880"/>
            <a:ext cx="1920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2468880" y="2377440"/>
            <a:ext cx="192024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Reconh. de Padrões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4663440" y="1188720"/>
            <a:ext cx="1920240" cy="347472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63440" y="1325880"/>
            <a:ext cx="1920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4400" dirty="0"/>
          </a:p>
        </p:txBody>
      </p:sp>
      <p:sp>
        <p:nvSpPr>
          <p:cNvPr id="12" name="Text 10"/>
          <p:cNvSpPr/>
          <p:nvPr/>
        </p:nvSpPr>
        <p:spPr>
          <a:xfrm>
            <a:off x="4663440" y="2377440"/>
            <a:ext cx="192024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Abstração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6858000" y="1188720"/>
            <a:ext cx="1920240" cy="3474720"/>
          </a:xfrm>
          <a:prstGeom prst="rect">
            <a:avLst/>
          </a:prstGeom>
          <a:solidFill>
            <a:srgbClr val="2E6DB4"/>
          </a:solidFill>
          <a:ln w="12700">
            <a:solidFill>
              <a:srgbClr val="2E6DB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58000" y="1325880"/>
            <a:ext cx="1920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4400" dirty="0"/>
          </a:p>
        </p:txBody>
      </p:sp>
      <p:sp>
        <p:nvSpPr>
          <p:cNvPr id="15" name="Text 13"/>
          <p:cNvSpPr/>
          <p:nvPr/>
        </p:nvSpPr>
        <p:spPr>
          <a:xfrm>
            <a:off x="6858000" y="2377440"/>
            <a:ext cx="192024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Algoritmos</a:t>
            </a:r>
            <a:endParaRPr lang="en-US" sz="17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Pilar 1: Decomposição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1143000"/>
            <a:ext cx="8595360" cy="1737360"/>
          </a:xfrm>
          <a:prstGeom prst="rect">
            <a:avLst/>
          </a:prstGeom>
          <a:solidFill>
            <a:srgbClr val="EEF2F8"/>
          </a:solidFill>
          <a:ln w="12700">
            <a:solidFill>
              <a:srgbClr val="EEF2F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234440"/>
            <a:ext cx="813816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2E6D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Definição  </a:t>
            </a:r>
            <a:r>
              <a:rPr lang="en-US" sz="14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Capacidade de dividir um problema complexo em partes menores para facilitar sua compreensão e resolução. Cada parte é tratada de forma independente.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74320" y="3017520"/>
            <a:ext cx="8595360" cy="1783080"/>
          </a:xfrm>
          <a:prstGeom prst="rect">
            <a:avLst/>
          </a:prstGeom>
          <a:solidFill>
            <a:srgbClr val="E8F0FB"/>
          </a:solidFill>
          <a:ln w="12700">
            <a:solidFill>
              <a:srgbClr val="E8F0F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3108960"/>
            <a:ext cx="8138160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2E6D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  </a:t>
            </a:r>
            <a:r>
              <a:rPr lang="en-US" sz="14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Organizar uma festa: em vez de resolver tudo de uma vez, divide-se em tarefas — convites, alimentação, música e decoração. Usado na escola, no trabalho e na vida pessoal.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Pilar 2: Reconhecimento de Padrões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1143000"/>
            <a:ext cx="8595360" cy="1737360"/>
          </a:xfrm>
          <a:prstGeom prst="rect">
            <a:avLst/>
          </a:prstGeom>
          <a:solidFill>
            <a:srgbClr val="EEF2F8"/>
          </a:solidFill>
          <a:ln w="12700">
            <a:solidFill>
              <a:srgbClr val="EEF2F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234440"/>
            <a:ext cx="813816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2E6D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Definição  </a:t>
            </a:r>
            <a:r>
              <a:rPr lang="en-US" sz="14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Habilidade de identificar semelhanças e regularidades em diferentes situações, permitindo antecipar comportamentos e aplicar soluções já conhecidas a novos problemas.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74320" y="3017520"/>
            <a:ext cx="8595360" cy="1783080"/>
          </a:xfrm>
          <a:prstGeom prst="rect">
            <a:avLst/>
          </a:prstGeom>
          <a:solidFill>
            <a:srgbClr val="E8F0FB"/>
          </a:solidFill>
          <a:ln w="12700">
            <a:solidFill>
              <a:srgbClr val="E8F0F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3108960"/>
            <a:ext cx="8138160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2E6D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  </a:t>
            </a:r>
            <a:r>
              <a:rPr lang="en-US" sz="14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jogos digitais, ao identificar o padrão de ataque de um inimigo, o jogador consegue se defender com maior eficiência. Na escola, padrões aparecem na matemática, na leitura e em rotinas de estudo.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Pilar 3: Abstração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1143000"/>
            <a:ext cx="8595360" cy="1737360"/>
          </a:xfrm>
          <a:prstGeom prst="rect">
            <a:avLst/>
          </a:prstGeom>
          <a:solidFill>
            <a:srgbClr val="EEF2F8"/>
          </a:solidFill>
          <a:ln w="12700">
            <a:solidFill>
              <a:srgbClr val="EEF2F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234440"/>
            <a:ext cx="813816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2E6D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Definição  </a:t>
            </a:r>
            <a:r>
              <a:rPr lang="en-US" sz="14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Capacidade de concentrar a atenção nos aspectos realmente relevantes de um problema, desconsiderando informações secundárias que não contribuem para sua solução.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74320" y="3017520"/>
            <a:ext cx="8595360" cy="1783080"/>
          </a:xfrm>
          <a:prstGeom prst="rect">
            <a:avLst/>
          </a:prstGeom>
          <a:solidFill>
            <a:srgbClr val="E8F0FB"/>
          </a:solidFill>
          <a:ln w="12700">
            <a:solidFill>
              <a:srgbClr val="E8F0F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3108960"/>
            <a:ext cx="8138160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2E6D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  </a:t>
            </a:r>
            <a:r>
              <a:rPr lang="en-US" sz="14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Ao estudar para uma prova, não é preciso revisar todos os conteúdos — basta identificar os tópicos com maior dificuldade e direcionar os esforços para essas áreas específicas.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Pilar 4: Algoritmos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1143000"/>
            <a:ext cx="8595360" cy="1737360"/>
          </a:xfrm>
          <a:prstGeom prst="rect">
            <a:avLst/>
          </a:prstGeom>
          <a:solidFill>
            <a:srgbClr val="EEF2F8"/>
          </a:solidFill>
          <a:ln w="12700">
            <a:solidFill>
              <a:srgbClr val="EEF2F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234440"/>
            <a:ext cx="813816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2E6D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Definição  </a:t>
            </a:r>
            <a:r>
              <a:rPr lang="en-US" sz="14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Sequências ordenadas de passos que, quando seguidos corretamente, conduzem à solução de um problema. A ordem das etapas é essencial para o resultado esperado.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74320" y="3017520"/>
            <a:ext cx="8595360" cy="1783080"/>
          </a:xfrm>
          <a:prstGeom prst="rect">
            <a:avLst/>
          </a:prstGeom>
          <a:solidFill>
            <a:srgbClr val="E8F0FB"/>
          </a:solidFill>
          <a:ln w="12700">
            <a:solidFill>
              <a:srgbClr val="E8F0F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3108960"/>
            <a:ext cx="8138160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2E6D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  </a:t>
            </a:r>
            <a:r>
              <a:rPr lang="en-US" sz="14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receita de bolo: mistura-se os ingredientes, leva-se ao forno, aguarda-se o tempo certo e retira-se. Inverter ou omitir qualquer etapa resulta em falha.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A3A6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9728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2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7200" dirty="0"/>
          </a:p>
        </p:txBody>
      </p:sp>
      <p:sp>
        <p:nvSpPr>
          <p:cNvPr id="3" name="Text 1"/>
          <p:cNvSpPr/>
          <p:nvPr/>
        </p:nvSpPr>
        <p:spPr>
          <a:xfrm>
            <a:off x="457200" y="228600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Aplicação no Dia a Dia</a:t>
            </a:r>
            <a:endParaRPr lang="en-US" sz="36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Aplicação no Dia a Dia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1143000"/>
            <a:ext cx="64008" cy="3474720"/>
          </a:xfrm>
          <a:prstGeom prst="rect">
            <a:avLst/>
          </a:prstGeom>
          <a:solidFill>
            <a:srgbClr val="2E6DB4"/>
          </a:solidFill>
          <a:ln w="12700">
            <a:solidFill>
              <a:srgbClr val="2E6DB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1143000"/>
            <a:ext cx="813816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pensamento computacional vai além dos computadores.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Organizar o tempo dedicado aos estudos.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Planejar uma viagem de forma eficiente.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Solucionar conflitos e problemas no ambiente escolar.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Executar trabalhos em equipe com maior organização.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Tomar decisões importantes de maneira mais fundamentada.</a:t>
            </a:r>
            <a:endParaRPr lang="en-US" sz="16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A3A6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9728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2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7200" dirty="0"/>
          </a:p>
        </p:txBody>
      </p:sp>
      <p:sp>
        <p:nvSpPr>
          <p:cNvPr id="3" name="Text 1"/>
          <p:cNvSpPr/>
          <p:nvPr/>
        </p:nvSpPr>
        <p:spPr>
          <a:xfrm>
            <a:off x="457200" y="228600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Pensamento Computacional na Escola</a:t>
            </a:r>
            <a:endParaRPr lang="en-US" sz="36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Pensamento Computacional na Escola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1143000"/>
            <a:ext cx="64008" cy="3474720"/>
          </a:xfrm>
          <a:prstGeom prst="rect">
            <a:avLst/>
          </a:prstGeom>
          <a:solidFill>
            <a:srgbClr val="2E6DB4"/>
          </a:solidFill>
          <a:ln w="12700">
            <a:solidFill>
              <a:srgbClr val="2E6DB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1143000"/>
            <a:ext cx="813816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Ferramenta pedagógica de grande valor para o desenvolvimento dos estudantes.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Aprimora o raciocínio lógico e a capacidade de resolução de problemas.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Estimula a criatividade e o pensamento crítico.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Caráter transversal: aplicável em Matemática, Ciências, Português, Artes e Informática.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Competência fundamental para a formação dos estudantes do século XXI.</a:t>
            </a:r>
            <a:endParaRPr lang="en-US" sz="16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A3A6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2E6DB4"/>
          </a:solidFill>
          <a:ln w="12700">
            <a:solidFill>
              <a:srgbClr val="2E6DB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Conclusão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pensamento computacional é uma habilidade essencial no mundo contemporâneo.
</a:t>
            </a: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meio de seus quatro pilares — decomposição, reconhecimento de padrões, abstração e algoritmos —, é possível abordar problemas de maneira mais eficiente, organizada e criativa.
Mais do que aprender a programar, trata-se de desenvolver uma forma de pensar que valoriza a lógica, a análise e a resolução estruturada de problemas.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2CF093B9963CAC41ABF9ED7AC6EC127C" ma:contentTypeVersion="4" ma:contentTypeDescription="Crie um novo documento." ma:contentTypeScope="" ma:versionID="66e8e70b2e58d713b5316898be76ab03">
  <xsd:schema xmlns:xsd="http://www.w3.org/2001/XMLSchema" xmlns:xs="http://www.w3.org/2001/XMLSchema" xmlns:p="http://schemas.microsoft.com/office/2006/metadata/properties" xmlns:ns2="b2703e1b-408b-4cf1-ba8d-68b28a90d118" targetNamespace="http://schemas.microsoft.com/office/2006/metadata/properties" ma:root="true" ma:fieldsID="0aa3251648c60f8c2e966c0e62a08f68" ns2:_="">
    <xsd:import namespace="b2703e1b-408b-4cf1-ba8d-68b28a90d118"/>
    <xsd:element name="properties">
      <xsd:complexType>
        <xsd:sequence>
          <xsd:element name="documentManagement">
            <xsd:complexType>
              <xsd:all>
                <xsd:element ref="ns2:ReferenceId" minOccurs="0"/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2703e1b-408b-4cf1-ba8d-68b28a90d118" elementFormDefault="qualified">
    <xsd:import namespace="http://schemas.microsoft.com/office/2006/documentManagement/types"/>
    <xsd:import namespace="http://schemas.microsoft.com/office/infopath/2007/PartnerControls"/>
    <xsd:element name="ReferenceId" ma:index="8" nillable="true" ma:displayName="ReferenceId" ma:indexed="true" ma:internalName="ReferenceId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ReferenceId xmlns="b2703e1b-408b-4cf1-ba8d-68b28a90d118" xsi:nil="true"/>
  </documentManagement>
</p:properties>
</file>

<file path=customXml/itemProps1.xml><?xml version="1.0" encoding="utf-8"?>
<ds:datastoreItem xmlns:ds="http://schemas.openxmlformats.org/officeDocument/2006/customXml" ds:itemID="{20EB894A-E37F-4BE3-A169-51CE4FA1410F}"/>
</file>

<file path=customXml/itemProps2.xml><?xml version="1.0" encoding="utf-8"?>
<ds:datastoreItem xmlns:ds="http://schemas.openxmlformats.org/officeDocument/2006/customXml" ds:itemID="{DFFF40C9-B9B4-488B-B204-950203DEF4B4}"/>
</file>

<file path=customXml/itemProps3.xml><?xml version="1.0" encoding="utf-8"?>
<ds:datastoreItem xmlns:ds="http://schemas.openxmlformats.org/officeDocument/2006/customXml" ds:itemID="{66BD4438-817E-4B47-886E-4C1ABA1D2463}"/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674</Words>
  <Application>Microsoft Office PowerPoint</Application>
  <PresentationFormat>Apresentação na tela (16:9)</PresentationFormat>
  <Paragraphs>100</Paragraphs>
  <Slides>19</Slides>
  <Notes>19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Pilares do Pensamento Computacional</dc:title>
  <dc:subject>PptxGenJS Presentation</dc:subject>
  <dc:creator>PptxGenJS</dc:creator>
  <cp:lastModifiedBy>EtecVAV</cp:lastModifiedBy>
  <cp:revision>2</cp:revision>
  <dcterms:created xsi:type="dcterms:W3CDTF">2026-05-14T20:28:20Z</dcterms:created>
  <dcterms:modified xsi:type="dcterms:W3CDTF">2026-05-15T15:34:29Z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0x0101002CF093B9963CAC41ABF9ED7AC6EC127C</vt:lpwstr>
  </property>
</Properties>
</file>